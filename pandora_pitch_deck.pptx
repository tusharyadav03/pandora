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1828800"/>
            <a:ext cx="2377440" cy="2377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2286000"/>
            <a:ext cx="1463040" cy="146304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0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onsolas"/>
              </a:rPr>
              <a:t>&lt;/&gt;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 Black"/>
              </a:rPr>
              <a:t>PANDORA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Calibri"/>
              </a:rPr>
              <a:t>AI Risk Scanner for the Code You 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73152" cy="640080"/>
          </a:xfrm>
          <a:prstGeom prst="rect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ADCFC"/>
                </a:solidFill>
                <a:latin typeface="Calibri"/>
              </a:rPr>
              <a:t>Catch leaked secrets in 3 seconds — explained in plain English.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2377440" cy="411480"/>
          </a:xfrm>
          <a:prstGeom prst="roundRect">
            <a:avLst>
              <a:gd name="adj" fmla="val 8000"/>
            </a:avLst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HACKATHON 2026 ·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09AB8"/>
                </a:solidFill>
                <a:latin typeface="Calibri"/>
              </a:rPr>
              <a:t>Team: Tushar  ·  Roles: UX · Frontend · Backend · PM · Domain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PANDORA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8AFE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B1A3D"/>
                </a:solidFill>
                <a:latin typeface="Arial Black"/>
              </a:rPr>
              <a:t>Developers leak secrets every single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 i="0">
                <a:solidFill>
                  <a:srgbClr val="FF6B6B"/>
                </a:solidFill>
                <a:latin typeface="Arial Black"/>
              </a:rPr>
              <a:t>23.7M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B1A3D"/>
                </a:solidFill>
                <a:latin typeface="Calibri"/>
              </a:rPr>
              <a:t>secrets leaked on GitHub in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B556B"/>
                </a:solidFill>
                <a:latin typeface="Calibri"/>
              </a:rPr>
              <a:t>GitGuardian State of Secrets Sprawl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56032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74320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 i="0">
                <a:solidFill>
                  <a:srgbClr val="FFB84D"/>
                </a:solidFill>
                <a:latin typeface="Arial Black"/>
              </a:rPr>
              <a:t>$4.88M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947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B1A3D"/>
                </a:solidFill>
                <a:latin typeface="Calibri"/>
              </a:rPr>
              <a:t>average cost of a data breach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519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B556B"/>
                </a:solidFill>
                <a:latin typeface="Calibri"/>
              </a:rPr>
              <a:t>IBM Cost of a Data Breach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560320"/>
            <a:ext cx="3566160" cy="246888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74320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 i="0">
                <a:solidFill>
                  <a:srgbClr val="6B8AFE"/>
                </a:solidFill>
                <a:latin typeface="Arial Black"/>
              </a:rPr>
              <a:t>57%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7947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B1A3D"/>
                </a:solidFill>
                <a:latin typeface="Calibri"/>
              </a:rPr>
              <a:t>of devs admit shipping a known vulnerability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2519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B556B"/>
                </a:solidFill>
                <a:latin typeface="Calibri"/>
              </a:rPr>
              <a:t>Snyk State of Open Source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4B556B"/>
                </a:solidFill>
                <a:latin typeface="Calibri"/>
              </a:rPr>
              <a:t>And most existing scanners spit out cryptic CWE IDs that scare the people who need them most.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09AB8"/>
                </a:solidFill>
                <a:latin typeface="Calibri"/>
              </a:rPr>
              <a:t>Pandora · AI Risk Scanner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09AB8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PANDORA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8AFE"/>
                </a:solidFill>
                <a:latin typeface="Calibri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B1A3D"/>
                </a:solidFill>
                <a:latin typeface="Arial Black"/>
              </a:rPr>
              <a:t>Paste. Scan. Understand. Fix.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880360"/>
            <a:ext cx="640080" cy="64008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A3D"/>
                </a:solidFill>
                <a:latin typeface="Calibri"/>
              </a:rPr>
              <a:t>PASTE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5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Drop in code, config, logs, or a file.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08960" y="3886200"/>
            <a:ext cx="228600" cy="274320"/>
          </a:xfrm>
          <a:prstGeom prst="rightArrow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7560" y="26517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6160" y="2880360"/>
            <a:ext cx="640080" cy="640080"/>
          </a:xfrm>
          <a:prstGeom prst="ellipse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80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57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A3D"/>
                </a:solidFill>
                <a:latin typeface="Calibri"/>
              </a:rPr>
              <a:t>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1605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Regex + AI catch secrets, keys, PII, weak crypto.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9320" y="3886200"/>
            <a:ext cx="228600" cy="274320"/>
          </a:xfrm>
          <a:prstGeom prst="rightArrow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6517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2880360"/>
            <a:ext cx="640080" cy="640080"/>
          </a:xfrm>
          <a:prstGeom prst="ellipse">
            <a:avLst/>
          </a:prstGeom>
          <a:solidFill>
            <a:srgbClr val="3DD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880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57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A3D"/>
                </a:solidFill>
                <a:latin typeface="Calibri"/>
              </a:rPr>
              <a:t>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605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Plain-English why it matters — Beginner Mode toggle.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69680" y="3886200"/>
            <a:ext cx="228600" cy="274320"/>
          </a:xfrm>
          <a:prstGeom prst="rightArrow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98280" y="26517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0" y="2880360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880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657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A3D"/>
                </a:solidFill>
                <a:latin typeface="Calibri"/>
              </a:rPr>
              <a:t>FIX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16052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One-click suggested fixes you can copy and ship.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4B556B"/>
                </a:solidFill>
                <a:latin typeface="Calibri"/>
              </a:rPr>
              <a:t>Built for the 80% of devs who aren't security specialists.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09AB8"/>
                </a:solidFill>
                <a:latin typeface="Calibri"/>
              </a:rPr>
              <a:t>Pandora · AI Risk Scanner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09AB8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PANDORA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8AFE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A3D"/>
                </a:solidFill>
                <a:latin typeface="Calibri"/>
              </a:rPr>
              <a:t>A thin, fast pipeline — regex catches the obvious, AI explains the rest.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2240280" cy="219456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React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18745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Vite + Tailwind
Paste / upload / score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1760" y="3977640"/>
            <a:ext cx="137160" cy="274320"/>
          </a:xfrm>
          <a:prstGeom prst="rightArrow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8920" y="3017520"/>
            <a:ext cx="2240280" cy="219456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88920" y="3017520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301752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Express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703320"/>
            <a:ext cx="18745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POST /scan
Validate, route, mask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83480" y="3977640"/>
            <a:ext cx="137160" cy="274320"/>
          </a:xfrm>
          <a:prstGeom prst="rightArrow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3017520"/>
            <a:ext cx="2240280" cy="219456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3017520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3DD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301752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Detector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703320"/>
            <a:ext cx="18745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Regex rules + heuristics
(secrets, PII, weak crypto)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315200" y="3977640"/>
            <a:ext cx="137160" cy="274320"/>
          </a:xfrm>
          <a:prstGeom prst="rightArrow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52359" y="3017520"/>
            <a:ext cx="2240280" cy="219456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52359" y="3017520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59" y="301752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39" y="3703320"/>
            <a:ext cx="18745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LLM explains issues +
proposes safe fixes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646919" y="3977640"/>
            <a:ext cx="137160" cy="274320"/>
          </a:xfrm>
          <a:prstGeom prst="rightArrow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84080" y="3017520"/>
            <a:ext cx="2240280" cy="219456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84080" y="3017520"/>
            <a:ext cx="2240280" cy="5029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301752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Risk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703320"/>
            <a:ext cx="18745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Risk meter, fixes,
copy-to-clipboard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4B556B"/>
                </a:solidFill>
                <a:latin typeface="Calibri"/>
              </a:rPr>
              <a:t>Stateless. No code is stored. Average round-trip: under 3 seconds.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09AB8"/>
                </a:solidFill>
                <a:latin typeface="Calibri"/>
              </a:rPr>
              <a:t>Pandora · AI Risk Scanner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09AB8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PANDORA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8AFE"/>
                </a:solidFill>
                <a:latin typeface="Calibri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A3D"/>
                </a:solidFill>
                <a:latin typeface="Arial Black"/>
              </a:rPr>
              <a:t>What a judge sees in 30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088136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881360" cy="365760"/>
          </a:xfrm>
          <a:prstGeom prst="roundRect">
            <a:avLst>
              <a:gd name="adj" fmla="val 8000"/>
            </a:avLst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313432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2313432"/>
            <a:ext cx="137160" cy="137160"/>
          </a:xfrm>
          <a:prstGeom prst="ellipse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313432"/>
            <a:ext cx="137160" cy="137160"/>
          </a:xfrm>
          <a:prstGeom prst="ellipse">
            <a:avLst/>
          </a:prstGeom>
          <a:solidFill>
            <a:srgbClr val="3DD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240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B556B"/>
                </a:solidFill>
                <a:latin typeface="Consolas"/>
              </a:rPr>
              <a:t>pandora.app/scan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834640"/>
            <a:ext cx="5943600" cy="31089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06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B556B"/>
                </a:solidFill>
                <a:latin typeface="Calibri"/>
              </a:rPr>
              <a:t>Content to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71800"/>
            <a:ext cx="557784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>
                <a:solidFill>
                  <a:srgbClr val="CADCFC"/>
                </a:solidFill>
                <a:latin typeface="Consolas"/>
              </a:rPr>
              <a:t>const config = {</a:t>
            </a:r>
          </a:p>
          <a:p>
            <a:r>
              <a:rPr sz="1300">
                <a:solidFill>
                  <a:srgbClr val="CADCFC"/>
                </a:solidFill>
                <a:latin typeface="Consolas"/>
              </a:rPr>
              <a:t>  db_password: "hunter2",</a:t>
            </a:r>
          </a:p>
          <a:p>
            <a:r>
              <a:rPr sz="1300">
                <a:solidFill>
                  <a:srgbClr val="CADCFC"/>
                </a:solidFill>
                <a:latin typeface="Consolas"/>
              </a:rPr>
              <a:t>  api_key: "sk-proj-abcd1234EFGH5678ijkl",</a:t>
            </a:r>
          </a:p>
          <a:p>
            <a:r>
              <a:rPr sz="1300">
                <a:solidFill>
                  <a:srgbClr val="CADCFC"/>
                </a:solidFill>
                <a:latin typeface="Consolas"/>
              </a:rPr>
              <a:t>  admin_email: "alex@acme.io",</a:t>
            </a:r>
          </a:p>
          <a:p>
            <a:r>
              <a:rPr sz="1300">
                <a:solidFill>
                  <a:srgbClr val="CADCFC"/>
                </a:solidFill>
                <a:latin typeface="Consolas"/>
              </a:rPr>
              <a:t>  AWS_KEY: "AKIAIOSFODNN7EXAMPLE"</a:t>
            </a:r>
          </a:p>
          <a:p>
            <a:r>
              <a:rPr sz="1300">
                <a:solidFill>
                  <a:srgbClr val="CADCFC"/>
                </a:solidFill>
                <a:latin typeface="Consolas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606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B556B"/>
                </a:solidFill>
                <a:latin typeface="Calibri"/>
              </a:rPr>
              <a:t>Risk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29260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0" y="2926080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9260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🔴  HIGH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566160"/>
            <a:ext cx="4206240" cy="41148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78040" y="368503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36118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A3D"/>
                </a:solidFill>
                <a:latin typeface="Calibri"/>
              </a:rPr>
              <a:t>Hardcoded Password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61188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6B6B"/>
                </a:solidFill>
                <a:latin typeface="Calibri"/>
              </a:rPr>
              <a:t>HIGH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4069080"/>
            <a:ext cx="4206240" cy="41148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78040" y="418795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4114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A3D"/>
                </a:solidFill>
                <a:latin typeface="Calibri"/>
              </a:rPr>
              <a:t>OpenAI API 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11480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6B6B"/>
                </a:solidFill>
                <a:latin typeface="Calibri"/>
              </a:rPr>
              <a:t>HIGH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572000"/>
            <a:ext cx="4206240" cy="41148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78040" y="4690872"/>
            <a:ext cx="164592" cy="16459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46177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A3D"/>
                </a:solidFill>
                <a:latin typeface="Calibri"/>
              </a:rPr>
              <a:t>AWS Access Key 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61772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FF6B6B"/>
                </a:solidFill>
                <a:latin typeface="Calibri"/>
              </a:rPr>
              <a:t>HIGH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5074920"/>
            <a:ext cx="4206240" cy="41148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78040" y="5193792"/>
            <a:ext cx="164592" cy="164592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60" y="5120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1A3D"/>
                </a:solidFill>
                <a:latin typeface="Calibri"/>
              </a:rPr>
              <a:t>Email in 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12064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B8AFE"/>
                </a:solidFill>
                <a:latin typeface="Calibri"/>
              </a:rPr>
              <a:t>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5715000"/>
            <a:ext cx="1828800" cy="365760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5715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🧒 Beginner 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B556B"/>
                </a:solidFill>
                <a:latin typeface="Calibri"/>
              </a:rPr>
              <a:t>Live URL on demo day → pandora.local · 100% local fallback if Wi-Fi is hostile.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09AB8"/>
                </a:solidFill>
                <a:latin typeface="Calibri"/>
              </a:rPr>
              <a:t>Pandora · AI Risk Scanner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09AB8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PANDORA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8AFE"/>
                </a:solidFill>
                <a:latin typeface="Calibri"/>
              </a:rPr>
              <a:t>WHY PANDORA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1A3D"/>
                </a:solidFill>
                <a:latin typeface="Arial Black"/>
              </a:rPr>
              <a:t>Three things competitors don't 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788920"/>
            <a:ext cx="594360" cy="5943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A3D"/>
                </a:solidFill>
                <a:latin typeface="Calibri"/>
              </a:rPr>
              <a:t>Beginner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089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B556B"/>
                </a:solidFill>
                <a:latin typeface="Calibri"/>
              </a:rPr>
              <a:t>Re-explains every finding for non-security devs, juniors, and PMs. No CWE jargon.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0690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A3D"/>
                </a:solidFill>
                <a:latin typeface="Calibri"/>
              </a:rPr>
              <a:t>AI-suggested fixes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262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B556B"/>
                </a:solidFill>
                <a:latin typeface="Calibri"/>
              </a:rPr>
              <a:t>Don't just flag the bug — paste a fix into the editor in one click. With diff.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623560"/>
            <a:ext cx="594360" cy="5943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6235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486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A3D"/>
                </a:solidFill>
                <a:latin typeface="Calibri"/>
              </a:rPr>
              <a:t>Zero-friction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943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B556B"/>
                </a:solidFill>
                <a:latin typeface="Calibri"/>
              </a:rPr>
              <a:t>Browser-only. No CLI, no auth, no plugin. Demo works on any laptop, anywhere.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09AB8"/>
                </a:solidFill>
                <a:latin typeface="Calibri"/>
              </a:rPr>
              <a:t>Pandora · AI Risk Scanner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09AB8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PANDORA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8AFE"/>
                </a:solidFill>
                <a:latin typeface="Calibri"/>
              </a:rP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A3D"/>
                </a:solidFill>
                <a:latin typeface="Calibri"/>
              </a:rPr>
              <a:t>DevSecOps is the fastest-growing slice of cloud security.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103120"/>
            <a:ext cx="4206240" cy="42062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45920" y="2743200"/>
            <a:ext cx="2926080" cy="292608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31720" y="3429000"/>
            <a:ext cx="1554480" cy="1554480"/>
          </a:xfrm>
          <a:prstGeom prst="ellipse">
            <a:avLst/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B1A3D"/>
                </a:solidFill>
                <a:latin typeface="Calibri"/>
              </a:rPr>
              <a:t>TAM
$30B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26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SAM
$7B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8404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SOM
$120M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468880"/>
            <a:ext cx="4846320" cy="356616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8AFE"/>
                </a:solidFill>
                <a:latin typeface="Calibri"/>
              </a:rPr>
              <a:t>TAM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$30B  global cloud security market by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8AFE"/>
                </a:solidFill>
                <a:latin typeface="Calibri"/>
              </a:rPr>
              <a:t>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$7B  DevSecOps &amp; secret-scanning segment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160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8AFE"/>
                </a:solidFill>
                <a:latin typeface="Calibri"/>
              </a:rPr>
              <a:t>SOM (3 yr)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480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B556B"/>
                </a:solidFill>
                <a:latin typeface="Calibri"/>
              </a:rPr>
              <a:t>$120M  20K SMB dev teams × $500/yr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2120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B1A3D"/>
                </a:solidFill>
                <a:latin typeface="Calibri"/>
              </a:rPr>
              <a:t>Tailwind: 38% YoY growth in DevSecOps spend (Gartner, 2025).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09AB8"/>
                </a:solidFill>
                <a:latin typeface="Calibri"/>
              </a:rPr>
              <a:t>Pandora · AI Risk Scanner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09AB8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PANDORA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8AFE"/>
                </a:solidFill>
                <a:latin typeface="Calibri"/>
              </a:rPr>
              <a:t>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A3D"/>
                </a:solidFill>
                <a:latin typeface="Calibri"/>
              </a:rPr>
              <a:t>Incumbents protect security teams. We protect every dev.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4023360" cy="502920"/>
          </a:xfrm>
          <a:prstGeom prst="rect">
            <a:avLst/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468880"/>
            <a:ext cx="1554480" cy="502920"/>
          </a:xfrm>
          <a:prstGeom prst="rect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Pandora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468880"/>
            <a:ext cx="169164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46888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GitGuardian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468880"/>
            <a:ext cx="155448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4688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Snyk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2600" y="2468880"/>
            <a:ext cx="169164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46888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TruffleHog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71800"/>
            <a:ext cx="402336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718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Plain-English 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71800"/>
            <a:ext cx="155448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7180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DD98C"/>
                </a:solidFill>
                <a:latin typeface="Calibri"/>
              </a:rP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971800"/>
            <a:ext cx="169164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97180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  <a:latin typeface="Calibri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2971800"/>
            <a:ext cx="155448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97180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B84D"/>
                </a:solidFill>
                <a:latin typeface="Calibri"/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2971800"/>
            <a:ext cx="169164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97180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  <a:latin typeface="Calibri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7472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47472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Beginner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47472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4747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DD98C"/>
                </a:solidFill>
                <a:latin typeface="Calibri"/>
              </a:rP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474720"/>
            <a:ext cx="1691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47472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  <a:latin typeface="Calibri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347472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34747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  <a:latin typeface="Calibri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600" y="3474720"/>
            <a:ext cx="1691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347472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  <a:latin typeface="Calibri"/>
              </a:rPr>
              <a:t>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977640"/>
            <a:ext cx="402336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97764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AI-generated fixes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977640"/>
            <a:ext cx="155448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39776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DD98C"/>
                </a:solidFill>
                <a:latin typeface="Calibri"/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977640"/>
            <a:ext cx="169164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39776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  <a:latin typeface="Calibri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8120" y="3977640"/>
            <a:ext cx="155448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8120" y="39776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DD98C"/>
                </a:solidFill>
                <a:latin typeface="Calibri"/>
              </a:rPr>
              <a:t>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72600" y="3977640"/>
            <a:ext cx="169164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97764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  <a:latin typeface="Calibri"/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48056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48056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Browser-only, no install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448056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44805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DD98C"/>
                </a:solidFill>
                <a:latin typeface="Calibri"/>
              </a:rPr>
              <a:t>Yes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480560"/>
            <a:ext cx="1691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448056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  <a:latin typeface="Calibri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18120" y="448056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18120" y="44805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  <a:latin typeface="Calibri"/>
              </a:rPr>
              <a:t>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72600" y="4480560"/>
            <a:ext cx="1691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72600" y="448056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6B6B"/>
                </a:solidFill>
                <a:latin typeface="Calibri"/>
              </a:rPr>
              <a:t>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983480"/>
            <a:ext cx="402336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498348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Free for hackathons &amp; OSS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4983480"/>
            <a:ext cx="155448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49834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DD98C"/>
                </a:solidFill>
                <a:latin typeface="Calibri"/>
              </a:rPr>
              <a:t>Yes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4983480"/>
            <a:ext cx="169164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26480" y="498348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B84D"/>
                </a:solidFill>
                <a:latin typeface="Calibri"/>
              </a:rPr>
              <a:t>Limited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18120" y="4983480"/>
            <a:ext cx="155448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49834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B84D"/>
                </a:solidFill>
                <a:latin typeface="Calibri"/>
              </a:rPr>
              <a:t>Limited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72600" y="4983480"/>
            <a:ext cx="1691640" cy="50292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72600" y="498348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DD98C"/>
                </a:solidFill>
                <a:latin typeface="Calibri"/>
              </a:rPr>
              <a:t>Yes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4B556B"/>
                </a:solidFill>
                <a:latin typeface="Calibri"/>
              </a:rPr>
              <a:t>We're not racing the giants on coverage — we're winning on accessibility.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09AB8"/>
                </a:solidFill>
                <a:latin typeface="Calibri"/>
              </a:rPr>
              <a:t>Pandora · AI Risk Scanner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09AB8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PANDORA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8AFE"/>
                </a:solidFill>
                <a:latin typeface="Calibri"/>
              </a:rP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A3D"/>
                </a:solidFill>
                <a:latin typeface="Calibri"/>
              </a:rPr>
              <a:t>Free for the curious. Paid for teams that 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3657600" cy="36576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B1A3D"/>
                </a:solidFill>
                <a:latin typeface="Arial Black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4B556B"/>
                </a:solidFill>
                <a:latin typeface="Calibri"/>
              </a:rPr>
              <a:t>Solo devs &amp; OSS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61688"/>
            <a:ext cx="164592" cy="16459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6168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Unlimited browser scans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773168"/>
            <a:ext cx="164592" cy="16459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7316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091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Beginner Mode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184648"/>
            <a:ext cx="164592" cy="16459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846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Single-file fixes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468880"/>
            <a:ext cx="3657600" cy="36576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43400" y="246888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468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2461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B1A3D"/>
                </a:solidFill>
                <a:latin typeface="Arial Black"/>
              </a:rPr>
              <a:t>$19/dev/mo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840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4B556B"/>
                </a:solidFill>
                <a:latin typeface="Calibri"/>
              </a:rPr>
              <a:t>Startups &amp; SMBs</a:t>
            </a:r>
          </a:p>
        </p:txBody>
      </p:sp>
      <p:sp>
        <p:nvSpPr>
          <p:cNvPr id="27" name="Oval 26"/>
          <p:cNvSpPr/>
          <p:nvPr/>
        </p:nvSpPr>
        <p:spPr>
          <a:xfrm>
            <a:off x="4709160" y="4361688"/>
            <a:ext cx="164592" cy="164592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36168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297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GitHub PR bot</a:t>
            </a:r>
          </a:p>
        </p:txBody>
      </p:sp>
      <p:sp>
        <p:nvSpPr>
          <p:cNvPr id="30" name="Oval 29"/>
          <p:cNvSpPr/>
          <p:nvPr/>
        </p:nvSpPr>
        <p:spPr>
          <a:xfrm>
            <a:off x="4709160" y="4773168"/>
            <a:ext cx="164592" cy="164592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477316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47091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Org-wide history</a:t>
            </a:r>
          </a:p>
        </p:txBody>
      </p:sp>
      <p:sp>
        <p:nvSpPr>
          <p:cNvPr id="33" name="Oval 32"/>
          <p:cNvSpPr/>
          <p:nvPr/>
        </p:nvSpPr>
        <p:spPr>
          <a:xfrm>
            <a:off x="4709160" y="5184648"/>
            <a:ext cx="164592" cy="164592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51846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51206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Slack alerts</a:t>
            </a:r>
          </a:p>
        </p:txBody>
      </p:sp>
      <p:sp>
        <p:nvSpPr>
          <p:cNvPr id="36" name="Oval 35"/>
          <p:cNvSpPr/>
          <p:nvPr/>
        </p:nvSpPr>
        <p:spPr>
          <a:xfrm>
            <a:off x="4709160" y="5596128"/>
            <a:ext cx="164592" cy="164592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55961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55321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Audit log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2468880"/>
            <a:ext cx="3657600" cy="36576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600" y="246888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2468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2461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0B1A3D"/>
                </a:solidFill>
                <a:latin typeface="Arial Black"/>
              </a:rPr>
              <a:t>Custom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840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4B556B"/>
                </a:solidFill>
                <a:latin typeface="Calibri"/>
              </a:rPr>
              <a:t>50+ devs, regulated</a:t>
            </a:r>
          </a:p>
        </p:txBody>
      </p:sp>
      <p:sp>
        <p:nvSpPr>
          <p:cNvPr id="44" name="Oval 43"/>
          <p:cNvSpPr/>
          <p:nvPr/>
        </p:nvSpPr>
        <p:spPr>
          <a:xfrm>
            <a:off x="8595360" y="4361688"/>
            <a:ext cx="164592" cy="164592"/>
          </a:xfrm>
          <a:prstGeom prst="ellipse">
            <a:avLst/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436168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297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SSO + RBAC</a:t>
            </a:r>
          </a:p>
        </p:txBody>
      </p:sp>
      <p:sp>
        <p:nvSpPr>
          <p:cNvPr id="47" name="Oval 46"/>
          <p:cNvSpPr/>
          <p:nvPr/>
        </p:nvSpPr>
        <p:spPr>
          <a:xfrm>
            <a:off x="8595360" y="4773168"/>
            <a:ext cx="164592" cy="164592"/>
          </a:xfrm>
          <a:prstGeom prst="ellipse">
            <a:avLst/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477316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7091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Self-hosted LLM</a:t>
            </a:r>
          </a:p>
        </p:txBody>
      </p:sp>
      <p:sp>
        <p:nvSpPr>
          <p:cNvPr id="50" name="Oval 49"/>
          <p:cNvSpPr/>
          <p:nvPr/>
        </p:nvSpPr>
        <p:spPr>
          <a:xfrm>
            <a:off x="8595360" y="5184648"/>
            <a:ext cx="164592" cy="164592"/>
          </a:xfrm>
          <a:prstGeom prst="ellipse">
            <a:avLst/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51846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51206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SOC 2 docs</a:t>
            </a:r>
          </a:p>
        </p:txBody>
      </p:sp>
      <p:sp>
        <p:nvSpPr>
          <p:cNvPr id="53" name="Oval 52"/>
          <p:cNvSpPr/>
          <p:nvPr/>
        </p:nvSpPr>
        <p:spPr>
          <a:xfrm>
            <a:off x="8595360" y="5596128"/>
            <a:ext cx="164592" cy="164592"/>
          </a:xfrm>
          <a:prstGeom prst="ellipse">
            <a:avLst/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55961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55321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A3D"/>
                </a:solidFill>
                <a:latin typeface="Calibri"/>
              </a:rPr>
              <a:t>Custom rules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09AB8"/>
                </a:solidFill>
                <a:latin typeface="Calibri"/>
              </a:rPr>
              <a:t>Pandora · AI Risk Scanner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09AB8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PANDORA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8AFE"/>
                </a:solidFill>
                <a:latin typeface="Calibri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A3D"/>
                </a:solidFill>
                <a:latin typeface="Calibri"/>
              </a:rPr>
              <a:t>From hackathon demo to dev-team essential in 12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840480"/>
            <a:ext cx="1088136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60220" y="3657600"/>
            <a:ext cx="411480" cy="41148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022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B8AFE"/>
                </a:solidFill>
                <a:latin typeface="Calibri"/>
              </a:rPr>
              <a:t>Q2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1A3D"/>
                </a:solidFill>
                <a:latin typeface="Arial Black"/>
              </a:rPr>
              <a:t>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B556B"/>
                </a:solidFill>
                <a:latin typeface="Calibri"/>
              </a:rPr>
              <a:t>Hackathon win
Landing page launch</a:t>
            </a:r>
          </a:p>
        </p:txBody>
      </p:sp>
      <p:sp>
        <p:nvSpPr>
          <p:cNvPr id="14" name="Oval 13"/>
          <p:cNvSpPr/>
          <p:nvPr/>
        </p:nvSpPr>
        <p:spPr>
          <a:xfrm>
            <a:off x="4549140" y="3657600"/>
            <a:ext cx="411480" cy="411480"/>
          </a:xfrm>
          <a:prstGeom prst="ellipse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91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560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B8AFE"/>
                </a:solidFill>
                <a:latin typeface="Calibri"/>
              </a:rPr>
              <a:t>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9260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1A3D"/>
                </a:solidFill>
                <a:latin typeface="Arial Black"/>
              </a:rPr>
              <a:t>MVP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29768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B556B"/>
                </a:solidFill>
                <a:latin typeface="Calibri"/>
              </a:rPr>
              <a:t>GitHub PR bot
First 100 teams</a:t>
            </a:r>
          </a:p>
        </p:txBody>
      </p:sp>
      <p:sp>
        <p:nvSpPr>
          <p:cNvPr id="19" name="Oval 18"/>
          <p:cNvSpPr/>
          <p:nvPr/>
        </p:nvSpPr>
        <p:spPr>
          <a:xfrm>
            <a:off x="7338060" y="3657600"/>
            <a:ext cx="411480" cy="41148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80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560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B8AFE"/>
                </a:solidFill>
                <a:latin typeface="Calibri"/>
              </a:rPr>
              <a:t>Q4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260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1A3D"/>
                </a:solidFill>
                <a:latin typeface="Arial Black"/>
              </a:rPr>
              <a:t>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29768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B556B"/>
                </a:solidFill>
                <a:latin typeface="Calibri"/>
              </a:rPr>
              <a:t>Slack + IDE plugin
1K paying seats</a:t>
            </a:r>
          </a:p>
        </p:txBody>
      </p:sp>
      <p:sp>
        <p:nvSpPr>
          <p:cNvPr id="24" name="Oval 23"/>
          <p:cNvSpPr/>
          <p:nvPr/>
        </p:nvSpPr>
        <p:spPr>
          <a:xfrm>
            <a:off x="10126979" y="3657600"/>
            <a:ext cx="411480" cy="411480"/>
          </a:xfrm>
          <a:prstGeom prst="ellipse">
            <a:avLst/>
          </a:prstGeom>
          <a:solidFill>
            <a:srgbClr val="3DD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26979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39" y="2560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B8AFE"/>
                </a:solidFill>
                <a:latin typeface="Calibri"/>
              </a:rPr>
              <a:t>Q1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9260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B1A3D"/>
                </a:solidFill>
                <a:latin typeface="Arial Black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429768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B556B"/>
                </a:solidFill>
                <a:latin typeface="Calibri"/>
              </a:rPr>
              <a:t>Self-hosted LLM
Enterprise pilots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09AB8"/>
                </a:solidFill>
                <a:latin typeface="Calibri"/>
              </a:rPr>
              <a:t>Pandora · AI Risk Scanner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09AB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onsolas"/>
              </a:rPr>
              <a:t>PANDORA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8AFE"/>
                </a:solidFill>
                <a:latin typeface="Calibri"/>
              </a:rPr>
              <a:t>THE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1A3D"/>
                </a:solidFill>
                <a:latin typeface="Arial Black"/>
              </a:rPr>
              <a:t>Five disciplines, one builder.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017520"/>
            <a:ext cx="822960" cy="82296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9260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A3D"/>
                </a:solidFill>
                <a:latin typeface="Calibri"/>
              </a:rPr>
              <a:t>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2900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User flows, wireframes, copy, beginner-mode tone.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65176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3017520"/>
            <a:ext cx="822960" cy="822960"/>
          </a:xfrm>
          <a:prstGeom prst="ellipse">
            <a:avLst/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9260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A3D"/>
                </a:solidFill>
                <a:latin typeface="Calibri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42900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React + Vite + Tailwind. Risk meter, file upload, results panel.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65176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0" y="3017520"/>
            <a:ext cx="822960" cy="822960"/>
          </a:xfrm>
          <a:prstGeom prst="ellipse">
            <a:avLst/>
          </a:prstGeom>
          <a:solidFill>
            <a:srgbClr val="3DD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9260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A3D"/>
                </a:solidFill>
                <a:latin typeface="Calibri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42900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Express, regex engine, AI service, masking + rate limits.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3484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800600"/>
            <a:ext cx="822960" cy="82296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709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A3D"/>
                </a:solidFill>
                <a:latin typeface="Calibri"/>
              </a:rPr>
              <a:t>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21208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Roadmap, scope, demo script, judging-criteria alignment.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43484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17720" y="480060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8006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709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A3D"/>
                </a:solidFill>
                <a:latin typeface="Calibri"/>
              </a:rPr>
              <a:t>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521208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B556B"/>
                </a:solidFill>
                <a:latin typeface="Calibri"/>
              </a:rPr>
              <a:t>Threat model, severity tuning, OWASP &amp; GDPR mapping.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4B556B"/>
                </a:solidFill>
                <a:latin typeface="Calibri"/>
              </a:rPr>
              <a:t>Tushar — full-stack builder operating across all five roles for the hackathon.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09AB8"/>
                </a:solidFill>
                <a:latin typeface="Calibri"/>
              </a:rPr>
              <a:t>Pandora · AI Risk Scanner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09AB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 Black"/>
              </a:rPr>
              <a:t>Help us put a security expert in every dev's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9184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3429000"/>
            <a:ext cx="640080" cy="64008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520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Win the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Validation that Pandora's plain-English angle resonates.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29184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0" y="3429000"/>
            <a:ext cx="640080" cy="64008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520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10 design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29768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SMB dev teams to pilot the GitHub PR bot in Q3.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29184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3429000"/>
            <a:ext cx="640080" cy="640080"/>
          </a:xfrm>
          <a:prstGeom prst="ellipse">
            <a:avLst/>
          </a:prstGeom>
          <a:solidFill>
            <a:srgbClr val="6B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520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$150K pre-seed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29768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6 months runway + LLM credits to ship Team tier.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Tushar  ·  pandora.app  ·  hello@pandora.app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